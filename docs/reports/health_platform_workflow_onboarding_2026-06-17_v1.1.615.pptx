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920240" cy="146304"/>
          </a:xfrm>
          <a:prstGeom prst="rect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587C"/>
                </a:solidFill>
                <a:latin typeface="Microsoft YaHei"/>
              </a:rPr>
              <a:t>Health Platform 研发流程与角色分工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D6773"/>
                </a:solidFill>
                <a:latin typeface="Microsoft YaHei"/>
              </a:rPr>
              <a:t>新员工快速上手培训版：从需求到上线的协作规范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4389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8587C"/>
                </a:solidFill>
                <a:latin typeface="Microsoft YaHei"/>
              </a:rPr>
              <a:t>2026-06-17  ·  Version 1.1.615</a:t>
            </a:r>
          </a:p>
        </p:txBody>
      </p:sp>
      <p:sp>
        <p:nvSpPr>
          <p:cNvPr id="7" name="Oval 6"/>
          <p:cNvSpPr/>
          <p:nvPr/>
        </p:nvSpPr>
        <p:spPr>
          <a:xfrm>
            <a:off x="8046720" y="3794760"/>
            <a:ext cx="219456" cy="219456"/>
          </a:xfrm>
          <a:prstGeom prst="ellipse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23960" y="3794760"/>
            <a:ext cx="219456" cy="219456"/>
          </a:xfrm>
          <a:prstGeom prst="ellipse">
            <a:avLst/>
          </a:prstGeom>
          <a:solidFill>
            <a:srgbClr val="2B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0" y="3794760"/>
            <a:ext cx="219456" cy="219456"/>
          </a:xfrm>
          <a:prstGeom prst="ellipse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8440" y="3794760"/>
            <a:ext cx="219456" cy="219456"/>
          </a:xfrm>
          <a:prstGeom prst="ellipse">
            <a:avLst/>
          </a:prstGeom>
          <a:solidFill>
            <a:srgbClr val="2B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0" y="3794760"/>
            <a:ext cx="219456" cy="219456"/>
          </a:xfrm>
          <a:prstGeom prst="ellipse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为什么需要这套流程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111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统一流程的价值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111496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保证需求可追踪，Issue 是跨角色主线。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让 main 始终保持可部署状态。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让文档、代码、测试、发布彼此回链。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减少返工，降低多人协作沟通成本。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F732E"/>
                </a:solidFill>
                <a:latin typeface="Microsoft YaHei"/>
              </a:rPr>
              <a:t>新人最常见的问题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什么时候建 feature 分支？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docs PR 和实现 PR 的区别是什么？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Issue 应该什么时候关闭？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上线前需要经过哪些门禁？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端到端流程总览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965960" cy="1051560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93976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40487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澄清需求
创建 Issue</a:t>
            </a:r>
          </a:p>
        </p:txBody>
      </p:sp>
      <p:sp>
        <p:nvSpPr>
          <p:cNvPr id="8" name="Chevron 7"/>
          <p:cNvSpPr/>
          <p:nvPr/>
        </p:nvSpPr>
        <p:spPr>
          <a:xfrm>
            <a:off x="2633472" y="2295144"/>
            <a:ext cx="256032" cy="384048"/>
          </a:xfrm>
          <a:prstGeom prst="chevron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0632" y="1965960"/>
            <a:ext cx="1965960" cy="1051560"/>
          </a:xfrm>
          <a:prstGeom prst="roundRect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093976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40487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审范围
控风险</a:t>
            </a:r>
          </a:p>
        </p:txBody>
      </p:sp>
      <p:sp>
        <p:nvSpPr>
          <p:cNvPr id="12" name="Chevron 11"/>
          <p:cNvSpPr/>
          <p:nvPr/>
        </p:nvSpPr>
        <p:spPr>
          <a:xfrm>
            <a:off x="4764024" y="2295144"/>
            <a:ext cx="256032" cy="384048"/>
          </a:xfrm>
          <a:prstGeom prst="chevron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01184" y="1965960"/>
            <a:ext cx="1965960" cy="1051560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2093976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40487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输出 design
定义方案</a:t>
            </a:r>
          </a:p>
        </p:txBody>
      </p:sp>
      <p:sp>
        <p:nvSpPr>
          <p:cNvPr id="16" name="Chevron 15"/>
          <p:cNvSpPr/>
          <p:nvPr/>
        </p:nvSpPr>
        <p:spPr>
          <a:xfrm>
            <a:off x="6894576" y="2295144"/>
            <a:ext cx="256032" cy="384048"/>
          </a:xfrm>
          <a:prstGeom prst="chevron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31736" y="1965960"/>
            <a:ext cx="1965960" cy="1051560"/>
          </a:xfrm>
          <a:prstGeom prst="roundRect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2093976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240487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拆 plan
定验证</a:t>
            </a:r>
          </a:p>
        </p:txBody>
      </p:sp>
      <p:sp>
        <p:nvSpPr>
          <p:cNvPr id="20" name="Chevron 19"/>
          <p:cNvSpPr/>
          <p:nvPr/>
        </p:nvSpPr>
        <p:spPr>
          <a:xfrm>
            <a:off x="9025128" y="2295144"/>
            <a:ext cx="256032" cy="384048"/>
          </a:xfrm>
          <a:prstGeom prst="chevron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2288" y="1965960"/>
            <a:ext cx="1965960" cy="1051560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093976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40487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编码
测试
提交 PR</a:t>
            </a:r>
          </a:p>
        </p:txBody>
      </p:sp>
      <p:sp>
        <p:nvSpPr>
          <p:cNvPr id="24" name="Chevron 23"/>
          <p:cNvSpPr/>
          <p:nvPr/>
        </p:nvSpPr>
        <p:spPr>
          <a:xfrm>
            <a:off x="11155680" y="2295144"/>
            <a:ext cx="256032" cy="384048"/>
          </a:xfrm>
          <a:prstGeom prst="chevron">
            <a:avLst/>
          </a:prstGeom>
          <a:solidFill>
            <a:srgbClr val="EF7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292840" y="1965960"/>
            <a:ext cx="1965960" cy="1051560"/>
          </a:xfrm>
          <a:prstGeom prst="roundRect">
            <a:avLst/>
          </a:prstGeom>
          <a:solidFill>
            <a:srgbClr val="2B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2093976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2404872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版本
tag
上线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657600"/>
            <a:ext cx="10561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3767328"/>
            <a:ext cx="102321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B8A40"/>
                </a:solidFill>
                <a:latin typeface="Microsoft YaHei"/>
              </a:rPr>
              <a:t>一句话总结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114800"/>
            <a:ext cx="1023213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从想法到上线，每一步都有明确角色、产物和门禁。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角色与职责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前半程：定义与决策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15721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Product_Manager：定义问题、范围、价值。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需求审批：检查目标、风险、验收标准。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System_Architect：定义系统方案与边界。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Tech_Lead_Planner：把方案拆成可执行计划。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F732E"/>
                </a:solidFill>
                <a:latin typeface="Microsoft YaHei"/>
              </a:rPr>
              <a:t>后半程：实现与交付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Developer：编码、测试、联调、提交 PR。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QA / Playwright：维护 E2E 和关键路径回归。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Reviewer：把关代码质量与可维护性。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Release_Manager：版本、CHANGELOG、发布说明。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需求阶段：先讲清楚问题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REQ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2486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Product_Manager 的动作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248655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先确认问题是什么，再谈怎么做。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创建或关联 GitHub Issue。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输出需求文档，说明 What / Why / 范围 / 验收。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不讨论数据库、API、实现细节。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527048"/>
            <a:ext cx="479145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B8A40"/>
                </a:solidFill>
                <a:latin typeface="Microsoft YaHei"/>
              </a:rPr>
              <a:t>分支与 PR 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874519"/>
            <a:ext cx="4791455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需求/设计/计划阶段统一使用 docs/&lt;issue&gt;-&lt;slug&gt;。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docs PR 只用 Refs #&lt;issue&gt;。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不要在需求阶段直接创建 feature 分支。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什么时候创建 Feature 分支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推荐时机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0657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需求、设计、计划确认后，再进入实现。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从最新 main 创建 feature/* 或 fix/*。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这样实现分支天然包含已批准文档。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F732E"/>
                </a:solidFill>
                <a:latin typeface="Microsoft YaHei"/>
              </a:rPr>
              <a:t>流程图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docs 分支完成文档 → docs PR 合入 main → Developer 从最新 main 拉出 feature/fix → 开始编码。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Developer 的完整闭环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111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标准动作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11149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读取 plan / requirement / design。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先写测试，再写代码。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本地验证后提交 Conventional Commits。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push 分支并发起 PR。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本地三终端模型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Terminal 1：后端服务。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Terminal 2：前端开发服务器。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Terminal 3：测试、Git、一次性命令。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合并后清理分支，保持工作区干净。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Issue 与 PR 的关系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972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6436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B8A40"/>
                </a:solidFill>
                <a:latin typeface="Microsoft YaHei"/>
              </a:rPr>
              <a:t>统一原则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10643616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Issue 是主线，PR 是载体。文档先行，代码后跟；只有真正完成验收的实现 PR 才适合关闭 Issue。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20440"/>
            <a:ext cx="10972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127"/>
                </a:solidFill>
                <a:latin typeface="Microsoft YaHei"/>
              </a:defRPr>
            </a:pPr>
            <a:r>
              <a:t>docs PR：Refs #123，不关闭 Issue</a:t>
            </a:r>
          </a:p>
          <a:p>
            <a:pPr>
              <a:spcAft>
                <a:spcPts val="400"/>
              </a:spcAft>
              <a:defRPr sz="1700">
                <a:solidFill>
                  <a:srgbClr val="1C2127"/>
                </a:solidFill>
                <a:latin typeface="Microsoft YaHei"/>
              </a:defRPr>
            </a:pPr>
            <a:r>
              <a:t>feature / fix PR：Closes #123 或 Fixes #123 视情况使用</a:t>
            </a:r>
          </a:p>
          <a:p>
            <a:pPr>
              <a:spcAft>
                <a:spcPts val="400"/>
              </a:spcAft>
              <a:defRPr sz="1700">
                <a:solidFill>
                  <a:srgbClr val="1C2127"/>
                </a:solidFill>
                <a:latin typeface="Microsoft YaHei"/>
              </a:defRPr>
            </a:pPr>
            <a:r>
              <a:t>release PR：Refs #123，不代表需求完成</a:t>
            </a:r>
          </a:p>
          <a:p>
            <a:pPr>
              <a:spcAft>
                <a:spcPts val="400"/>
              </a:spcAft>
              <a:defRPr sz="1700">
                <a:solidFill>
                  <a:srgbClr val="1C2127"/>
                </a:solidFill>
                <a:latin typeface="Microsoft YaHei"/>
              </a:defRPr>
            </a:pPr>
            <a:r>
              <a:t>follow-up PR：Refs #123，保留追踪关系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测试与质量门禁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111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必须经过的验证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11149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单元测试：Pytest。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UI 回归：Playwright E2E。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PR 校验：后端测试 + 前端 build。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发布前再检查版本文件和发布说明。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23A3A"/>
                </a:solidFill>
                <a:latin typeface="Microsoft YaHei"/>
              </a:rPr>
              <a:t>质量门禁的意义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任何一步不过，都不能继续往下走。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门禁不是阻碍交付，而是避免把问题扩散到生产。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分支策略与发布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分支类型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15721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main：稳定主干。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docs/&lt;issue&gt;-&lt;slug&gt;：文档协作。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feature/&lt;scope&gt;-&lt;desc&gt;：新功能开发。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fix/&lt;scope&gt;-&lt;desc&gt;：缺陷修复。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release/&lt;version&gt; / hotfix/&lt;version&gt;：发布与紧急修复。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B8A40"/>
                </a:solidFill>
                <a:latin typeface="Microsoft YaHei"/>
              </a:rPr>
              <a:t>发布节奏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合并到 main 后部署 staging。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staging 回归通过后创建 release。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tag 驱动生产发布。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版本、CHANGELOG、Release Notes 必须一致。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新员工上手清单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5157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入职第一周建议完成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515721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看懂流程总览图。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理解角色分工和责任边界。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理解 docs / feature / fix / release 的区别。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理解 Issue 和 PR 的关联规则。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48371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587C"/>
                </a:solidFill>
                <a:latin typeface="Microsoft YaHei"/>
              </a:rPr>
              <a:t>实践目标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19"/>
            <a:ext cx="4837176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能独立启动本地环境。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能跟着一个真实 Issue 跑到 PR。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能在 review 和测试反馈后完成闭环。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109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587C"/>
                </a:solidFill>
                <a:latin typeface="Microsoft YaHei"/>
              </a:rPr>
              <a:t>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585216"/>
            <a:ext cx="1051560" cy="384048"/>
          </a:xfrm>
          <a:prstGeom prst="roundRect">
            <a:avLst/>
          </a:prstGeom>
          <a:solidFill>
            <a:srgbClr val="185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0287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92807"/>
            <a:ext cx="99578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B8A40"/>
                </a:solidFill>
                <a:latin typeface="Microsoft YaHei"/>
              </a:rPr>
              <a:t>最后一句话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9957816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需求先行，Issue 贯穿，docs 先于 feature，feature 先于 release，质量门禁贯穿全程。</a:t>
            </a:r>
          </a:p>
          <a:p>
            <a:pPr>
              <a:spcAft>
                <a:spcPts val="500"/>
              </a:spcAft>
              <a:defRPr sz="1600">
                <a:solidFill>
                  <a:srgbClr val="1C2127"/>
                </a:solidFill>
                <a:latin typeface="Microsoft YaHei"/>
              </a:defRPr>
            </a:pPr>
            <a:r>
              <a:t>建议下一步：跟一个真实需求从 Issue 跑到 PR。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