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14E78"/>
                </a:solidFill>
                <a:latin typeface="Microsoft YaHei"/>
              </a:rPr>
              <a:t>Health Platform 研发流程与角色分工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57400"/>
            <a:ext cx="91440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5C6773"/>
                </a:solidFill>
                <a:latin typeface="Microsoft YaHei"/>
              </a:rPr>
              <a:t>从需求到上线的协作规范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788920"/>
            <a:ext cx="46634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926079"/>
            <a:ext cx="4297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C762E"/>
                </a:solidFill>
                <a:latin typeface="Microsoft YaHei"/>
              </a:rPr>
              <a:t>适用对象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产品、研发、测试、技术管理、发布协作人员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788920"/>
            <a:ext cx="46634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926079"/>
            <a:ext cx="42976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309691"/>
                </a:solidFill>
                <a:latin typeface="Microsoft YaHei"/>
              </a:rPr>
              <a:t>核心目标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246120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让需求、文档、代码、测试、发布全程可追踪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133087"/>
            <a:ext cx="98755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C6773"/>
                </a:solidFill>
                <a:latin typeface="Microsoft YaHei"/>
              </a:rPr>
              <a:t>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为什么需要这套流程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74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4E78"/>
                </a:solidFill>
                <a:latin typeface="Microsoft YaHei"/>
              </a:rPr>
              <a:t>统一流程的价值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507492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需求先定义清楚，再进入设计和开发。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main 始终保持可部署状态。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Issue、文档、PR、测试结果可以回链。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减少多人协作中的返工和沟通成本。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7548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C23A3A"/>
                </a:solidFill>
                <a:latin typeface="Microsoft YaHei"/>
              </a:rPr>
              <a:t>不统一时的典型问题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754879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需求口头传递，范围不断漂移。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开发直接开工，后面再补文档。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测试点和验收标准不一致。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上线责任、回滚和版本边界不清。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一句话：需求先行，Issue 贯穿，docs 先于 feature，质量门禁贯穿全程。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端到端流程总览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965960"/>
            <a:ext cx="1664208" cy="1078992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2075688"/>
            <a:ext cx="151790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404872"/>
            <a:ext cx="1517904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澄清需求
创建 Issue</a:t>
            </a:r>
          </a:p>
        </p:txBody>
      </p:sp>
      <p:sp>
        <p:nvSpPr>
          <p:cNvPr id="8" name="Chevron 7"/>
          <p:cNvSpPr/>
          <p:nvPr/>
        </p:nvSpPr>
        <p:spPr>
          <a:xfrm>
            <a:off x="2221992" y="224942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8880" y="1965960"/>
            <a:ext cx="1664208" cy="1078992"/>
          </a:xfrm>
          <a:prstGeom prst="roundRect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2075688"/>
            <a:ext cx="151790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404872"/>
            <a:ext cx="1517904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审范围
控风险</a:t>
            </a:r>
          </a:p>
        </p:txBody>
      </p:sp>
      <p:sp>
        <p:nvSpPr>
          <p:cNvPr id="12" name="Chevron 11"/>
          <p:cNvSpPr/>
          <p:nvPr/>
        </p:nvSpPr>
        <p:spPr>
          <a:xfrm>
            <a:off x="4160520" y="224942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965960"/>
            <a:ext cx="1664208" cy="1078992"/>
          </a:xfrm>
          <a:prstGeom prst="roundRect">
            <a:avLst/>
          </a:prstGeom>
          <a:solidFill>
            <a:srgbClr val="3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75688"/>
            <a:ext cx="151790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04872"/>
            <a:ext cx="1517904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输出 design
定义方案</a:t>
            </a:r>
          </a:p>
        </p:txBody>
      </p:sp>
      <p:sp>
        <p:nvSpPr>
          <p:cNvPr id="16" name="Chevron 15"/>
          <p:cNvSpPr/>
          <p:nvPr/>
        </p:nvSpPr>
        <p:spPr>
          <a:xfrm>
            <a:off x="6099048" y="224942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1965960"/>
            <a:ext cx="1664208" cy="1078992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075688"/>
            <a:ext cx="151790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04872"/>
            <a:ext cx="1517904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拆 plan
定验证</a:t>
            </a:r>
          </a:p>
        </p:txBody>
      </p:sp>
      <p:sp>
        <p:nvSpPr>
          <p:cNvPr id="20" name="Chevron 19"/>
          <p:cNvSpPr/>
          <p:nvPr/>
        </p:nvSpPr>
        <p:spPr>
          <a:xfrm>
            <a:off x="8037576" y="224942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84464" y="1965960"/>
            <a:ext cx="1664208" cy="1078992"/>
          </a:xfrm>
          <a:prstGeom prst="roundRect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075688"/>
            <a:ext cx="151790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404872"/>
            <a:ext cx="1517904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编码
测试
提交 PR</a:t>
            </a:r>
          </a:p>
        </p:txBody>
      </p:sp>
      <p:sp>
        <p:nvSpPr>
          <p:cNvPr id="24" name="Chevron 23"/>
          <p:cNvSpPr/>
          <p:nvPr/>
        </p:nvSpPr>
        <p:spPr>
          <a:xfrm>
            <a:off x="9976104" y="224942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22992" y="1965960"/>
            <a:ext cx="1664208" cy="1078992"/>
          </a:xfrm>
          <a:prstGeom prst="roundRect">
            <a:avLst/>
          </a:prstGeom>
          <a:solidFill>
            <a:srgbClr val="2F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96144" y="2075688"/>
            <a:ext cx="151790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6144" y="2404872"/>
            <a:ext cx="1517904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版本
tag
上线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3675887"/>
            <a:ext cx="10561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813048"/>
            <a:ext cx="101955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2F8C4C"/>
                </a:solidFill>
                <a:latin typeface="Microsoft YaHei"/>
              </a:rPr>
              <a:t>流程结论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133087"/>
            <a:ext cx="101955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每一步都有明确角色、产物和门禁；任何一步不清楚，都不要直接进入下一步。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主线顺序：需求澄清 → 需求审批 → 技术设计 → 计划拆解 → 开发测试 → 评审发布。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角色与职责总表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ROLE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663440"/>
                <a:gridCol w="429768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>
                    <a:solidFill>
                      <a:srgbClr val="11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核心职责</a:t>
                      </a:r>
                    </a:p>
                  </a:txBody>
                  <a:tcPr>
                    <a:solidFill>
                      <a:srgbClr val="11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主要产出</a:t>
                      </a:r>
                    </a:p>
                  </a:txBody>
                  <a:tcPr>
                    <a:solidFill>
                      <a:srgbClr val="114E7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Product_Manager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澄清需求、定义价值、控制范围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需求文档、Issue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需求审批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审范围、风险、验收标准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评审结论、澄清问题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System_Architect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设计系统方案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design 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Tech_Lead_Planner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拆任务、定阶段、定验证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plan 文档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编码、测试、联调、提交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代码、测试、PR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QA / Playwright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设计和维护 E2E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测试计划、E2E 用例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Reviewer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代码审查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Review 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Release_Manager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版本发布准备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VERSION、CHANGELOG、Release Notes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C2127"/>
                          </a:solidFill>
                          <a:latin typeface="Microsoft YaHei"/>
                        </a:rPr>
                        <a:t>DevOps /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构建、部署、回归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127"/>
                          </a:solidFill>
                          <a:latin typeface="Microsoft YaHei"/>
                        </a:rPr>
                        <a:t>流水线、环境、报告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先看职责边界，再看交付物；边界清楚，协作才不会重叠。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需求阶段怎么协作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377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4E78"/>
                </a:solidFill>
                <a:latin typeface="Microsoft YaHei"/>
              </a:rPr>
              <a:t>Product_Manager 负责什么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59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先确认问题是什么，再谈怎么做。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创建或关联 GitHub Issue。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输出需求文档 req-*.md。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只讲 What / Why / 范围 / 验收。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93775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C23A3A"/>
                </a:solidFill>
                <a:latin typeface="Microsoft YaHei"/>
              </a:rPr>
              <a:t>需求阶段不要做什么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4937759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不要提前讨论数据库和 API 实现细节。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不要绕过审批直接进入开发。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不要让需求文档只剩概念，没有验收标准。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不要在 main 上零散写需求文档。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建议使用 docs/&lt;issue&gt;-&lt;slug&gt; 作为需求、设计、计划的协作分支。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为什么要先审批需求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200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C762E"/>
                </a:solidFill>
                <a:latin typeface="Microsoft YaHei"/>
              </a:rPr>
              <a:t>审批重点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20040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目标是否明确。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范围是否清楚。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验收是否可测试。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风险和依赖是否说明。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回滚和发布是否可操作。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154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2788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2F8C4C"/>
                </a:solidFill>
                <a:latin typeface="Microsoft YaHei"/>
              </a:rPr>
              <a:t>处理结果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7889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通过。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有条件通过。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退回修订。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6304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600200"/>
            <a:ext cx="28803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C23A3A"/>
                </a:solidFill>
                <a:latin typeface="Microsoft YaHei"/>
              </a:rPr>
              <a:t>不通过时怎么办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920240"/>
            <a:ext cx="288036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补充问题说明。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补充风险清单。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补齐验收口径。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重新评审。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审批不是走流程，而是把不确定性提前暴露。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设计与计划如何交接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28800"/>
            <a:ext cx="1965960" cy="1078992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8196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需求文档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181965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明确 What / Why</a:t>
            </a:r>
          </a:p>
        </p:txBody>
      </p:sp>
      <p:sp>
        <p:nvSpPr>
          <p:cNvPr id="8" name="Chevron 7"/>
          <p:cNvSpPr/>
          <p:nvPr/>
        </p:nvSpPr>
        <p:spPr>
          <a:xfrm>
            <a:off x="2907792" y="215798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1965960" cy="1078992"/>
          </a:xfrm>
          <a:prstGeom prst="roundRect">
            <a:avLst/>
          </a:prstGeom>
          <a:solidFill>
            <a:srgbClr val="3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938528"/>
            <a:ext cx="18196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267712"/>
            <a:ext cx="181965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说明怎么做</a:t>
            </a:r>
          </a:p>
        </p:txBody>
      </p:sp>
      <p:sp>
        <p:nvSpPr>
          <p:cNvPr id="12" name="Chevron 11"/>
          <p:cNvSpPr/>
          <p:nvPr/>
        </p:nvSpPr>
        <p:spPr>
          <a:xfrm>
            <a:off x="5312664" y="215798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50992" y="1828800"/>
            <a:ext cx="1965960" cy="1078992"/>
          </a:xfrm>
          <a:prstGeom prst="roundRect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1938528"/>
            <a:ext cx="18196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4144" y="2267712"/>
            <a:ext cx="181965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拆成任务</a:t>
            </a:r>
          </a:p>
        </p:txBody>
      </p:sp>
      <p:sp>
        <p:nvSpPr>
          <p:cNvPr id="16" name="Chevron 15"/>
          <p:cNvSpPr/>
          <p:nvPr/>
        </p:nvSpPr>
        <p:spPr>
          <a:xfrm>
            <a:off x="7717536" y="215798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55864" y="1828800"/>
            <a:ext cx="1965960" cy="1078992"/>
          </a:xfrm>
          <a:prstGeom prst="roundRect">
            <a:avLst/>
          </a:prstGeom>
          <a:solidFill>
            <a:srgbClr val="2F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1938528"/>
            <a:ext cx="18196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6" y="2267712"/>
            <a:ext cx="181965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按计划实现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429000"/>
            <a:ext cx="10561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566160"/>
            <a:ext cx="101955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4E78"/>
                </a:solidFill>
                <a:latin typeface="Microsoft YaHei"/>
              </a:rPr>
              <a:t>交接原则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886200"/>
            <a:ext cx="101955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设计阶段看影响面：后端、前端、数据库、测试。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计划阶段看顺序：先数据和模型，再 API，再 UI，最后验证。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这两个阶段仍然建议在 docs 分支里完成，并保持 Issue 关联。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一句话：design 负责方案，plan 负责执行顺序。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什么时候创建 feature 分支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74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2F8C4C"/>
                </a:solidFill>
                <a:latin typeface="Microsoft YaHei"/>
              </a:rPr>
              <a:t>推荐时机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507492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需求文档已经具备可验收 AC。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范围和非范围已经明确。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技术方向已经确认可行。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任务拆解已经完成。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docs-only PR 已合入或明确批准。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7548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4E78"/>
                </a:solidFill>
                <a:latin typeface="Microsoft YaHei"/>
              </a:rPr>
              <a:t>分支建议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754879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文档阶段：docs/&lt;issue&gt;-&lt;slug&gt;。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开发阶段：feature/&lt;scope&gt;-&lt;desc&gt;。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缺陷修复：fix/&lt;scope&gt;-&lt;desc&gt;。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发版准备：release/&lt;version&gt;。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不要在需求刚开始时就开 feature；文档先行，代码后跟。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开发、测试、评审的闭环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2743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2377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4E78"/>
                </a:solidFill>
                <a:latin typeface="Microsoft YaHei"/>
              </a:rPr>
              <a:t>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237744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按 plan 实现。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先测试，再编码。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本地验证后提交 PR。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1444752"/>
            <a:ext cx="2651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1581912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C762E"/>
                </a:solidFill>
                <a:latin typeface="Microsoft YaHei"/>
              </a:rPr>
              <a:t>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901952"/>
            <a:ext cx="228600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补齐关键路径。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维护 E2E 用例。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验证回归。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7104" y="1444752"/>
            <a:ext cx="2651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1581912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309691"/>
                </a:solidFill>
                <a:latin typeface="Microsoft YaHei"/>
              </a:rPr>
              <a:t>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1901952"/>
            <a:ext cx="228600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看行为回归。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看测试是否足够。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看风险和可维护性。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54896" y="1444752"/>
            <a:ext cx="1828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7776" y="1581912"/>
            <a:ext cx="1463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2F8C4C"/>
                </a:solidFill>
                <a:latin typeface="Microsoft YaHei"/>
              </a:rPr>
              <a:t>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7776" y="1901952"/>
            <a:ext cx="146304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通过后合并。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不通过则修订。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质量门禁不是最后一步，而是开发过程的一部分。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发布与环境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011680" cy="1078992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18653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186537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稳定主干</a:t>
            </a:r>
          </a:p>
        </p:txBody>
      </p:sp>
      <p:sp>
        <p:nvSpPr>
          <p:cNvPr id="8" name="Chevron 7"/>
          <p:cNvSpPr/>
          <p:nvPr/>
        </p:nvSpPr>
        <p:spPr>
          <a:xfrm>
            <a:off x="2944368" y="215798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73552" y="1828800"/>
            <a:ext cx="2011680" cy="1078992"/>
          </a:xfrm>
          <a:prstGeom prst="roundRect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938528"/>
            <a:ext cx="18653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267712"/>
            <a:ext cx="186537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回归验证</a:t>
            </a:r>
          </a:p>
        </p:txBody>
      </p:sp>
      <p:sp>
        <p:nvSpPr>
          <p:cNvPr id="12" name="Chevron 11"/>
          <p:cNvSpPr/>
          <p:nvPr/>
        </p:nvSpPr>
        <p:spPr>
          <a:xfrm>
            <a:off x="5394960" y="215798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4144" y="1828800"/>
            <a:ext cx="2011680" cy="1078992"/>
          </a:xfrm>
          <a:prstGeom prst="roundRect">
            <a:avLst/>
          </a:prstGeom>
          <a:solidFill>
            <a:srgbClr val="3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7296" y="1938528"/>
            <a:ext cx="18653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release 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2267712"/>
            <a:ext cx="186537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版本冻结</a:t>
            </a:r>
          </a:p>
        </p:txBody>
      </p:sp>
      <p:sp>
        <p:nvSpPr>
          <p:cNvPr id="16" name="Chevron 15"/>
          <p:cNvSpPr/>
          <p:nvPr/>
        </p:nvSpPr>
        <p:spPr>
          <a:xfrm>
            <a:off x="7845552" y="2157984"/>
            <a:ext cx="292608" cy="329184"/>
          </a:xfrm>
          <a:prstGeom prst="chevron">
            <a:avLst/>
          </a:prstGeom>
          <a:solidFill>
            <a:srgbClr val="EC7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828800"/>
            <a:ext cx="2011680" cy="1078992"/>
          </a:xfrm>
          <a:prstGeom prst="roundRect">
            <a:avLst/>
          </a:prstGeom>
          <a:solidFill>
            <a:srgbClr val="2F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38528"/>
            <a:ext cx="18653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67712"/>
            <a:ext cx="186537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正式上线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547872"/>
            <a:ext cx="10442448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685032"/>
            <a:ext cx="100766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14E78"/>
                </a:solidFill>
                <a:latin typeface="Microsoft YaHei"/>
              </a:rPr>
              <a:t>发布原则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5072"/>
            <a:ext cx="10076688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main 永远保持可部署。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发布由 tag 驱动，版本、CHANGELOG 和 Release Notes 必须一致。</a:t>
            </a:r>
          </a:p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生产环境需要审批和回归验证。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10607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773"/>
                </a:solidFill>
                <a:latin typeface="Microsoft YaHei"/>
              </a:rPr>
              <a:t>发布不是把代码合进 main，而是把已验证的变更推到正确环境。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111556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4E78"/>
                </a:solidFill>
                <a:latin typeface="Microsoft YaHei"/>
              </a:rPr>
              <a:t>新员工上手清单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521207"/>
            <a:ext cx="1234440" cy="384048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ONB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310896" cy="310896"/>
          </a:xfrm>
          <a:prstGeom prst="roundRect">
            <a:avLst/>
          </a:prstGeom>
          <a:solidFill>
            <a:srgbClr val="2F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563624"/>
            <a:ext cx="98755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C2127"/>
                </a:solidFill>
                <a:latin typeface="Microsoft YaHei"/>
              </a:rPr>
              <a:t>已阅读流程总览。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39696"/>
            <a:ext cx="310896" cy="310896"/>
          </a:xfrm>
          <a:prstGeom prst="roundRect">
            <a:avLst/>
          </a:prstGeom>
          <a:solidFill>
            <a:srgbClr val="2F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130552"/>
            <a:ext cx="98755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C2127"/>
                </a:solidFill>
                <a:latin typeface="Microsoft YaHei"/>
              </a:rPr>
              <a:t>已理解角色分工。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06624"/>
            <a:ext cx="310896" cy="310896"/>
          </a:xfrm>
          <a:prstGeom prst="roundRect">
            <a:avLst/>
          </a:prstGeom>
          <a:solidFill>
            <a:srgbClr val="2F8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697480"/>
            <a:ext cx="98755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C2127"/>
                </a:solidFill>
                <a:latin typeface="Microsoft YaHei"/>
              </a:rPr>
              <a:t>已理解 docs 分支和 feature 分支。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73552"/>
            <a:ext cx="310896" cy="310896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264408"/>
            <a:ext cx="98755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C2127"/>
                </a:solidFill>
                <a:latin typeface="Microsoft YaHei"/>
              </a:rPr>
              <a:t>已理解 Issue 关联规则。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40480"/>
            <a:ext cx="310896" cy="310896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831336"/>
            <a:ext cx="98755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C2127"/>
                </a:solidFill>
                <a:latin typeface="Microsoft YaHei"/>
              </a:rPr>
              <a:t>已理解本地验证方式。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07408"/>
            <a:ext cx="310896" cy="310896"/>
          </a:xfrm>
          <a:prstGeom prst="roundRect">
            <a:avLst/>
          </a:prstGeom>
          <a:solidFill>
            <a:srgbClr val="11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398264"/>
            <a:ext cx="98755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1C2127"/>
                </a:solidFill>
                <a:latin typeface="Microsoft YaHei"/>
              </a:rPr>
              <a:t>已理解 release 流程。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57800"/>
            <a:ext cx="10424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10058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C762E"/>
                </a:solidFill>
                <a:latin typeface="Microsoft YaHei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15000"/>
            <a:ext cx="100584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跟着一个真实需求，从 Issue 跑到 docs、feature、PR、发布。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6070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>
                <a:solidFill>
                  <a:srgbClr val="114E78"/>
                </a:solidFill>
                <a:latin typeface="Microsoft YaHe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607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>
                <a:solidFill>
                  <a:srgbClr val="5C6773"/>
                </a:solidFill>
                <a:latin typeface="Microsoft YaHei"/>
              </a:rPr>
              <a:t>现在可以开始参与一个真实项目了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8458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794760"/>
            <a:ext cx="8092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2F8C4C"/>
                </a:solidFill>
                <a:latin typeface="Microsoft YaHei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114800"/>
            <a:ext cx="8092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127"/>
                </a:solidFill>
                <a:latin typeface="Microsoft YaHei"/>
              </a:defRPr>
            </a:pPr>
            <a:r>
              <a:t>需求清晰、角色清晰、分支清晰、门禁清晰，团队协作就会稳定很多。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